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05A26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VPN 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E8EEF4"/>
                </a:solidFill>
                <a:latin typeface="Calibri"/>
              </a:rPr>
              <a:t>AI-Powered IPsec VPN Protocol Analyzer and Security Assessment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017520" cy="438912"/>
          </a:xfrm>
          <a:prstGeom prst="roundRect">
            <a:avLst>
              <a:gd name="adj" fmla="val 6000"/>
            </a:avLst>
          </a:prstGeom>
          <a:solidFill>
            <a:srgbClr val="123358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Problem Statement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011680"/>
            <a:ext cx="7955279" cy="438912"/>
          </a:xfrm>
          <a:prstGeom prst="roundRect">
            <a:avLst>
              <a:gd name="adj" fmla="val 6000"/>
            </a:avLst>
          </a:prstGeom>
          <a:solidFill>
            <a:srgbClr val="153860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08483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26160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23744"/>
            <a:ext cx="3017520" cy="438912"/>
          </a:xfrm>
          <a:prstGeom prst="roundRect">
            <a:avLst>
              <a:gd name="adj" fmla="val 6000"/>
            </a:avLst>
          </a:prstGeom>
          <a:solidFill>
            <a:srgbClr val="123358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Problem Statement Title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523744"/>
            <a:ext cx="7955279" cy="438912"/>
          </a:xfrm>
          <a:prstGeom prst="roundRect">
            <a:avLst>
              <a:gd name="adj" fmla="val 6000"/>
            </a:avLst>
          </a:prstGeom>
          <a:solidFill>
            <a:srgbClr val="153860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596896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AI-Powered IPsec VPN Protocol Analyzer and Security Assessment Framework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35808"/>
            <a:ext cx="3017520" cy="438912"/>
          </a:xfrm>
          <a:prstGeom prst="roundRect">
            <a:avLst>
              <a:gd name="adj" fmla="val 6000"/>
            </a:avLst>
          </a:prstGeom>
          <a:solidFill>
            <a:srgbClr val="123358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Organization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035808"/>
            <a:ext cx="7955279" cy="438912"/>
          </a:xfrm>
          <a:prstGeom prst="roundRect">
            <a:avLst>
              <a:gd name="adj" fmla="val 6000"/>
            </a:avLst>
          </a:prstGeom>
          <a:solidFill>
            <a:srgbClr val="153860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1089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NTRO — Blockchain &amp; Cybersecurity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47872"/>
            <a:ext cx="3017520" cy="438912"/>
          </a:xfrm>
          <a:prstGeom prst="roundRect">
            <a:avLst>
              <a:gd name="adj" fmla="val 6000"/>
            </a:avLst>
          </a:prstGeom>
          <a:solidFill>
            <a:srgbClr val="123358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6210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Theme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547872"/>
            <a:ext cx="7955279" cy="438912"/>
          </a:xfrm>
          <a:prstGeom prst="roundRect">
            <a:avLst>
              <a:gd name="adj" fmla="val 6000"/>
            </a:avLst>
          </a:prstGeom>
          <a:solidFill>
            <a:srgbClr val="153860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362102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Cybersecurity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59936"/>
            <a:ext cx="3017520" cy="438912"/>
          </a:xfrm>
          <a:prstGeom prst="roundRect">
            <a:avLst>
              <a:gd name="adj" fmla="val 6000"/>
            </a:avLst>
          </a:prstGeom>
          <a:solidFill>
            <a:srgbClr val="123358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330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PS Category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4059936"/>
            <a:ext cx="7955279" cy="438912"/>
          </a:xfrm>
          <a:prstGeom prst="roundRect">
            <a:avLst>
              <a:gd name="adj" fmla="val 6000"/>
            </a:avLst>
          </a:prstGeom>
          <a:solidFill>
            <a:srgbClr val="153860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413308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Software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72000"/>
            <a:ext cx="3017520" cy="438912"/>
          </a:xfrm>
          <a:prstGeom prst="roundRect">
            <a:avLst>
              <a:gd name="adj" fmla="val 6000"/>
            </a:avLst>
          </a:prstGeom>
          <a:solidFill>
            <a:srgbClr val="123358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645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Team 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4572000"/>
            <a:ext cx="7955279" cy="438912"/>
          </a:xfrm>
          <a:prstGeom prst="roundRect">
            <a:avLst>
              <a:gd name="adj" fmla="val 6000"/>
            </a:avLst>
          </a:prstGeom>
          <a:solidFill>
            <a:srgbClr val="153860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464515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________________ (fill from SIH portal)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84064"/>
            <a:ext cx="3017520" cy="438912"/>
          </a:xfrm>
          <a:prstGeom prst="roundRect">
            <a:avLst>
              <a:gd name="adj" fmla="val 6000"/>
            </a:avLst>
          </a:prstGeom>
          <a:solidFill>
            <a:srgbClr val="123358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572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Team 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5084064"/>
            <a:ext cx="7955279" cy="438912"/>
          </a:xfrm>
          <a:prstGeom prst="roundRect">
            <a:avLst>
              <a:gd name="adj" fmla="val 6000"/>
            </a:avLst>
          </a:prstGeom>
          <a:solidFill>
            <a:srgbClr val="153860"/>
          </a:solidFill>
          <a:ln>
            <a:solidFill>
              <a:srgbClr val="2A4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39" y="5157216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ENTROPY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B8C5D4"/>
                </a:solidFill>
                <a:latin typeface="Calibri"/>
              </a:rPr>
              <a:t>Lab testbed  ·  IKE/ESP/AH capture  ·  AI protocol ID  ·  Inner-traffic inference  ·  Security assessment  ·  Dashboard &amp; 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PROBLEM  ·  SOLUTION  ·  UNIQUENESS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@SIH Idea submission template  ·  Software  ·  Cybersecurity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109960" y="146304"/>
            <a:ext cx="566928" cy="566928"/>
          </a:xfrm>
          <a:prstGeom prst="ellipse">
            <a:avLst/>
          </a:prstGeom>
          <a:solidFill>
            <a:srgbClr val="E05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9960" y="23774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78992"/>
            <a:ext cx="11612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155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05A26"/>
                </a:solidFill>
                <a:latin typeface="Calibri"/>
              </a:rPr>
              <a:t>PROBLEM (PS 26160)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IPsec VPNs look “secure” while still using IKEv1, weak ciphers (DES/3DES), short DH groups, no PFS, long lifetimes, or transport mode. Misconfigurations are found only by expert Wireshark work. NTRO needs an AI-assisted framework that can generate known VPN configs, capture IKE/ESP/AH, identify protocol parameters, infer inner traffic without decryption, score the config, and report with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67712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67712"/>
            <a:ext cx="5715000" cy="3840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042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43200"/>
            <a:ext cx="5440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VPN Sentinel is an end-to-end lab + analyzer:
• Controllable IPsec testbed (StrongSwan): Tunnel/Transport, AES-128/256 GCM &amp; CBC+HMAC, multiple DH groups, PFS on/off, IPv4/IPv6, web/video/voice inner traffic.
• Capture pipeline: IKE (UDP 500/4500), ESP, AH, plus labelled PCAPs per scenario.
• AI/ML: (1) protocol identification from IKE SA — version, mode, encryption, integrity/auth, DH, SA lifetime; (2) inner traffic type from ESP size/timing only — never decrypt.
• Security engine: crypto strength, compliance, PFS, replay, cipher suite, metadata exposure.
• Outputs: 0–100 risk, threat matrix, AI confidence, executive + technical reports, interactive dashboard, training/testing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267712"/>
            <a:ext cx="5715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267712"/>
            <a:ext cx="5715000" cy="3840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3042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INNOVATION / UNIQUENESS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5440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• RFC-correct dual parsers: IKEv1 attribute list (RFC 2409) vs IKEv2 Transform Substructure (RFC 7296 §3.3) — not a shared byte hunt.
• Config is ground truth for training only; inference reads packets, not the lab YAML.
• Encrypted ESP is never opened; web/video/voice predicted from metadata (Draper-Gil–style features + IsolationForest / supervised head).
• One operator loop: scenario matrix → pcap → identify → assess → report — built for NTRO-style review, not a commercial VPN box.
• Explainable findings (rule IDs + evidence packets) plus an AI confidence score on the traffic/protocol heads.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TEAM ENTROPY  ·  SIH 2026  ·  PS 26160  ·  NTRO — Cybersecurity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6202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@SIH Idea submission template  ·  Software  ·  Cybersecurity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109960" y="146304"/>
            <a:ext cx="566928" cy="566928"/>
          </a:xfrm>
          <a:prstGeom prst="ellipse">
            <a:avLst/>
          </a:prstGeom>
          <a:solidFill>
            <a:srgbClr val="E05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9960" y="23774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78992"/>
            <a:ext cx="22128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078992"/>
            <a:ext cx="2212848" cy="3840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115568"/>
            <a:ext cx="20665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1. TESTBED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536192"/>
            <a:ext cx="202996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StrongSwan / Docker
Tunnel · Transport
AES-128/256
GCM / CBC+HMAC
DH groups · PFS
IPv4 / IPv6
Web · Video · Voice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5184" y="1078992"/>
            <a:ext cx="22128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15184" y="1078992"/>
            <a:ext cx="2212848" cy="3840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115568"/>
            <a:ext cx="20665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2.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1536192"/>
            <a:ext cx="202996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tcpdump / PCAPNG
IKE UDP 500
NAT-T UDP 4500
ESP (proto 50)
AH (proto 51)
Scenario labels
beside each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078992"/>
            <a:ext cx="22128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4336" y="1078992"/>
            <a:ext cx="2212848" cy="384048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1115568"/>
            <a:ext cx="20665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3. AI IDENTIFY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536192"/>
            <a:ext cx="202996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IKE v1 vs v2
Enc / integ / DH
Mode · lifetime
SA characteristics
ESP 5-tuple flows
Size · IAT · duration
Traffic class + conf.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33488" y="1078992"/>
            <a:ext cx="22128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3488" y="1078992"/>
            <a:ext cx="2212848" cy="3840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115568"/>
            <a:ext cx="20665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4. ASSESS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1536192"/>
            <a:ext cx="202996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Crypto strength
Config compliance
PFS · replay
Cipher suite
Metadata exposure
Threat matrix
0–100 risk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078992"/>
            <a:ext cx="22128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1078992"/>
            <a:ext cx="2212848" cy="3840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115568"/>
            <a:ext cx="206654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5. DELIVER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536192"/>
            <a:ext cx="202996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React dashboard
Exec + tech report
AI confidence
JSON / HTML / PDF
Docs + demo video
Train/test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40740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STACK (software edition — no payload decryption)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681728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7183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Testbed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718304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Linux, Docker Compose, strongSwan/swanctl, iperf / curl / ffmpeg inner traffic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681728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7183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Capture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718304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tcpdump, PCAP/PCAPNG, Scapy inventory (IKE, ESP, AH, NAT-T)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21208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2486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Protocol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248656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RFC 2409 + RFC 7296 parsers; optional learned head on transform/feature vectors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5212080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52486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Traffic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5248656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Flow features → IsolationForest (anomaly) + supervised web/video/voice on labelled lab set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742432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7790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Assessment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5779008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YAML policy (NIST SP 800-77 style) + additive 0–100 risk, threat matrix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5742432"/>
            <a:ext cx="57607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57790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Product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5779008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FastAPI, React + Vite dashboard, HTML/PDF reports, GitHub dataset + docs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TEAM ENTROPY  ·  SIH 2026  ·  PS 26160  ·  NTRO — Cybersecurity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6202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@SIH Idea submission template  ·  Software  ·  Cybersecurity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109960" y="146304"/>
            <a:ext cx="566928" cy="566928"/>
          </a:xfrm>
          <a:prstGeom prst="ellipse">
            <a:avLst/>
          </a:prstGeom>
          <a:solidFill>
            <a:srgbClr val="E05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9960" y="23774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78992"/>
            <a:ext cx="3749039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78992"/>
            <a:ext cx="3749039" cy="3840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11556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554480"/>
            <a:ext cx="3520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• Open-source IPsec (strongSwan) and packet tools (Scapy, tcpdump) are production-proven.
• Public IKE samples plus a small Docker lab cover the PS config axes without buying appliances.
• PCAP upload is a safe MVP; live sniff stays on the team’s lab interface only.
• Assessment rules map to NIST SP 800-77 / RFC 9395 — not a black-box score.
• ML uses observable metadata (size, timing, direction). No ESP decrypt, no illegal intercept.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078992"/>
            <a:ext cx="3749039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078992"/>
            <a:ext cx="3749039" cy="384048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11556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1554480"/>
            <a:ext cx="3520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• Child SA / Quick Mode often encrypted → mode, PFS, replay may be hidden unless the lab logs them.
• Inner-traffic classes overlap; accuracy needs a labelled testbed, not two Wireshark files.
• IKEv1 vs IKEv2 encodings differ — a shared 0x80 0x01 hunt fails silently on IKEv2.
• IPv6 + every cipher×DH×PFS combo is combinatorial; we ship a documented scenario matrix, not 100% of combinations on day one.
• False positives on anomaly scores if baselines are too small.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078992"/>
            <a:ext cx="3749039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078992"/>
            <a:ext cx="3749039" cy="384048"/>
          </a:xfrm>
          <a:prstGeom prst="rect">
            <a:avLst/>
          </a:prstGeom>
          <a:solidFill>
            <a:srgbClr val="1F7A4C"/>
          </a:solidFill>
          <a:ln>
            <a:solidFill>
              <a:srgbClr val="1F7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11556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MITIGATION /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1554480"/>
            <a:ext cx="3520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1C1E"/>
                </a:solidFill>
                <a:latin typeface="Calibri"/>
              </a:rPr>
              <a:t>• Dual RFC parsers + Wireshark ground truth on every sample.
• Lab YAML stored next to each PCAP as labels (never used as the only inference input).
• IsolationForest first (anomaly), then supervised web/video/voice on lab data with hold-out metrics and confidence.
• Findings stay explainable: packet evidence + rule ID; ML is a separate finding type.
• Phased build: parsers → rules → ESP ML → reports → testbed matrix expansion.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166360"/>
            <a:ext cx="116128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2120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1F3A"/>
                </a:solidFill>
                <a:latin typeface="Calibri"/>
              </a:rPr>
              <a:t>VIABILITY FOR SIH EXTERNAL 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504688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Local demo is enough for evaluation (no cloud). Dataset = lab PCAPs + public IKE captures. Team can show: (A) handshake decode matching Wireshark, (B) distinct findings for weak vs strong configs, (C) ESP metadata ML with a confidence number, (D) dashboard + executive/technical report. Hardware buy is not required. Success depends on labelled scenarios and honest limits on encrypted Child SAs — not on decrypting the VPN.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TEAM ENTROPY  ·  SIH 2026  ·  PS 26160  ·  NTRO — Cybersecurity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6202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@SIH Idea submission template  ·  Software  ·  Cybersecurity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109960" y="146304"/>
            <a:ext cx="566928" cy="566928"/>
          </a:xfrm>
          <a:prstGeom prst="ellipse">
            <a:avLst/>
          </a:prstGeom>
          <a:solidFill>
            <a:srgbClr val="E05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9960" y="23774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078992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78992"/>
            <a:ext cx="109728" cy="1572768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NTRO / CYBER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5544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Faster than manual IPsec review on captured tunnels; repeatable scoring.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078992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078992"/>
            <a:ext cx="109728" cy="1572768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SOC / BLUE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IKEv1, weak DH, missing PFS and odd ESP shapes rise as prioritized findings.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078992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078992"/>
            <a:ext cx="109728" cy="1572768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170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VPN ADMINS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5544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Config compliance vs a written policy (AES, DH, lifetime) without opening payloads.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788920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788920"/>
            <a:ext cx="109728" cy="1572768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TRAINING 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26440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Scenario matrix teaches “what a bad VPN looks like on the wire.”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88920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2788920"/>
            <a:ext cx="109728" cy="1572768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AUDITORS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26440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Executive summary + technical evidence pack (packets, rule IDs, confidence).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2788920"/>
            <a:ext cx="3749039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2788920"/>
            <a:ext cx="109728" cy="1572768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INDIA / AATMANIRBHAR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26440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A1C1E"/>
                </a:solidFill>
                <a:latin typeface="Calibri"/>
              </a:rPr>
              <a:t>Open stack (Python, strongSwan) instead of only foreign appliance GUIs.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526280"/>
            <a:ext cx="11612880" cy="1874519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6177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E05A26"/>
                </a:solidFill>
                <a:latin typeface="Calibri"/>
              </a:rPr>
              <a:t>STRATEGIC BENEFIT (ALIGNED TO THE PS)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Reduces dependence on expert-only packet reading for IPsec hygiene. Creates a labelled Indian-lab dataset of IKE/ESP under known configs — the missing piece for “AI protocol ID” and “traffic type inside ESP.” Does not replace a VPN gateway or attack others’ networks. Direct PS outcomes: testbed, capture, AI identification, inner-traffic prediction without decrypt, assessment (crypto, PFS, replay, suite strength, metadata), reports (risk, matrix, confidence), dashboard, documentation, demo, train/test set.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TEAM ENTROPY  ·  SIH 2026  ·  PS 26160  ·  NTRO — Cybersecurity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6202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E05A26"/>
          </a:solidFill>
          <a:ln>
            <a:solidFill>
              <a:srgbClr val="E05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RESEARCH, REFERENCES &amp; PS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5D0DC"/>
                </a:solidFill>
                <a:latin typeface="Calibri"/>
              </a:rPr>
              <a:t>@SIH Idea submission template  ·  Software  ·  Cybersecurity</a:t>
            </a:r>
          </a:p>
        </p:txBody>
      </p:sp>
      <p:sp>
        <p:nvSpPr>
          <p:cNvPr id="7" name="Oval 6"/>
          <p:cNvSpPr/>
          <p:nvPr/>
        </p:nvSpPr>
        <p:spPr>
          <a:xfrm>
            <a:off x="11109960" y="146304"/>
            <a:ext cx="566928" cy="566928"/>
          </a:xfrm>
          <a:prstGeom prst="ellipse">
            <a:avLst/>
          </a:prstGeom>
          <a:solidFill>
            <a:srgbClr val="E05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09960" y="23774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515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STANDARDS &amp; LITERATURE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353312"/>
            <a:ext cx="5806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1732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• RFC 2409 — IKEv1; RFC 7296 §3.3 — IKEv2 Transform Substructure
• RFC 4303 ESP; RFC 3948 NAT-T; RFC 9395 — IKEv1 deprecation
• NIST SP 800-77r1 — Guide to IPsec VPNs (crypto/policy language)
• Draper-Gil et al., ICISSP 2016 — time-related features for VPN traffic
• Internet-wide IKE measurement / ike-scan-style transform enumeration
• IsolationForest (Liu et al.) for unsupervised anomaly on flow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0515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PS 26160 CHECKLIST (IN SCOPE)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53312"/>
            <a:ext cx="56692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440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✓ VPN testbed: Tunnel/Transport, AES-128/256, GCM/CBC+HMAC, DH, PFS, IPv4/IPv6, traffic types
✓ Capture: IKE, ESP, AH, normal/labelled inner traffic
✓ AI protocol ID: version, mode, enc, auth, KE, SA traits
✓ AI inner type: web/video/voice from ESP metadata + confidence
✓ Assessment: strength, compliance, lifetime, replay, PFS, suite, metadata
✓ Reports + dashboard + dataset + demo video +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947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RISK MODEL (PROPOSED, REQUIREMENTS-STYLE)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096512"/>
            <a:ext cx="11612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16052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1C1E"/>
                </a:solidFill>
                <a:latin typeface="Calibri"/>
              </a:rPr>
              <a:t>VPN Sentinel Risk Score = min(100, Σ finding scores). Example weights: IKEv1 30 · weak enc 20 · weak DH 20 · PFS off 15 · transport 10 · long lifetime 10 · ESP/traffic anomaly from ML (separate ID). Bands: 0–29 Low · 30–59 Moderate · 60–79 High · 80–100 Critical. AI confidence is reported beside protocol/traffic predictions — it does not replace cryptographic facts.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138928"/>
            <a:ext cx="11612880" cy="1261872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21208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05A26"/>
                </a:solidFill>
                <a:latin typeface="Calibri"/>
              </a:rPr>
              <a:t>ONE LINE FOR JUDGES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504688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VPN Sentinel will generate known IPsec worlds, capture them, read what the handshake actually advertised, infer what the encrypted tunnel behaves like, and produce an explainable risk report — without ever decrypting ESP.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2025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TEAM ENTROPY  ·  SIH 2026  ·  PS 26160  ·  NTRO — Cybersecurity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62025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>
                <a:solidFill>
                  <a:srgbClr val="E05A2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