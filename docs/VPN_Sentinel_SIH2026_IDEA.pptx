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83" dt="2026-09-30T20:58:11.660"/>
    <p1510:client id="{895368C1-9C7A-3C51-F93F-D31A2DB80CC0}" v="8" dt="2026-09-30T08:20:51.188"/>
    <p1510:client id="{8F55E982-FE5A-4894-8655-F538537D6E97}" v="19" dt="2026-09-29T21:26:19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github.com/riddhii22/vpn-Sentinel-minor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4878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000" b="1" dirty="0">
                <a:solidFill>
                  <a:srgbClr val="000000"/>
                </a:solidFill>
                <a:latin typeface="Arial"/>
                <a:ea typeface="ＭＳ Ｐゴシック"/>
              </a:rPr>
              <a:t>Problem Statement ID 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/>
              </a:rPr>
              <a:t>- </a:t>
            </a:r>
            <a:r>
              <a:rPr sz="2000" b="1" dirty="0">
                <a:solidFill>
                  <a:srgbClr val="000000"/>
                </a:solidFill>
                <a:latin typeface="Arial"/>
                <a:ea typeface="ＭＳ Ｐゴシック"/>
              </a:rPr>
              <a:t>26160</a:t>
            </a:r>
            <a:endParaRPr lang="en-US" dirty="0">
              <a:ea typeface="ＭＳ Ｐゴシック"/>
            </a:endParaRPr>
          </a:p>
          <a:p>
            <a:pPr>
              <a:spcAft>
                <a:spcPts val="400"/>
              </a:spcAft>
            </a:pPr>
            <a:r>
              <a:rPr sz="1700" b="1" dirty="0">
                <a:solidFill>
                  <a:srgbClr val="000000"/>
                </a:solidFill>
                <a:latin typeface="Arial"/>
                <a:ea typeface="ＭＳ Ｐゴシック"/>
              </a:rPr>
              <a:t>Problem Statement Title </a:t>
            </a: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/>
              </a:rPr>
              <a:t>- </a:t>
            </a:r>
            <a:r>
              <a:rPr sz="1700" b="1" dirty="0">
                <a:solidFill>
                  <a:srgbClr val="000000"/>
                </a:solidFill>
                <a:latin typeface="Arial"/>
                <a:ea typeface="ＭＳ Ｐゴシック"/>
              </a:rPr>
              <a:t> AI-Powered IPsec VPN Protocol Analyzer and Security Assessment Framework</a:t>
            </a:r>
            <a:endParaRPr sz="1700" b="1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spcAft>
                <a:spcPts val="400"/>
              </a:spcAft>
            </a:pPr>
            <a:r>
              <a:rPr sz="1700" b="1" dirty="0">
                <a:solidFill>
                  <a:srgbClr val="000000"/>
                </a:solidFill>
                <a:latin typeface="Arial"/>
                <a:ea typeface="ＭＳ Ｐゴシック"/>
              </a:rPr>
              <a:t>Theme </a:t>
            </a:r>
            <a:r>
              <a:rPr lang="en-GB" sz="1700" b="1" dirty="0">
                <a:solidFill>
                  <a:srgbClr val="000000"/>
                </a:solidFill>
                <a:latin typeface="Arial"/>
                <a:ea typeface="ＭＳ Ｐゴシック"/>
              </a:rPr>
              <a:t>-- </a:t>
            </a:r>
            <a:r>
              <a:rPr sz="1700" b="1" dirty="0">
                <a:solidFill>
                  <a:srgbClr val="000000"/>
                </a:solidFill>
                <a:latin typeface="Arial"/>
                <a:ea typeface="ＭＳ Ｐゴシック"/>
              </a:rPr>
              <a:t> Cybersecurity  (NTRO </a:t>
            </a: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/>
              </a:rPr>
              <a:t>-</a:t>
            </a:r>
            <a:r>
              <a:rPr sz="1700" b="1" dirty="0">
                <a:solidFill>
                  <a:srgbClr val="000000"/>
                </a:solidFill>
                <a:latin typeface="Arial"/>
                <a:ea typeface="ＭＳ Ｐゴシック"/>
              </a:rPr>
              <a:t> Blockchain &amp; Cybersecurity)</a:t>
            </a:r>
            <a:endParaRPr sz="1700" b="1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spcAft>
                <a:spcPts val="400"/>
              </a:spcAft>
            </a:pPr>
            <a:r>
              <a:rPr sz="1700" b="1" dirty="0">
                <a:solidFill>
                  <a:srgbClr val="000000"/>
                </a:solidFill>
                <a:latin typeface="Arial"/>
                <a:ea typeface="ＭＳ Ｐゴシック"/>
              </a:rPr>
              <a:t>PS Category </a:t>
            </a:r>
            <a:r>
              <a:rPr lang="en-GB" sz="1700" b="1" dirty="0">
                <a:solidFill>
                  <a:srgbClr val="000000"/>
                </a:solidFill>
                <a:latin typeface="Arial"/>
                <a:ea typeface="ＭＳ Ｐゴシック"/>
              </a:rPr>
              <a:t>- </a:t>
            </a:r>
            <a:r>
              <a:rPr sz="1700" b="1" dirty="0">
                <a:solidFill>
                  <a:srgbClr val="000000"/>
                </a:solidFill>
                <a:latin typeface="Arial"/>
                <a:ea typeface="ＭＳ Ｐゴシック"/>
              </a:rPr>
              <a:t> Software</a:t>
            </a:r>
            <a:endParaRPr sz="1700" b="1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spcAft>
                <a:spcPts val="400"/>
              </a:spcAft>
            </a:pPr>
            <a:r>
              <a:rPr lang="en-GB" sz="1700" b="1" dirty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Team ID-</a:t>
            </a:r>
            <a:endParaRPr lang="en-GB" sz="1700" b="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>
              <a:spcAft>
                <a:spcPts val="400"/>
              </a:spcAft>
            </a:pPr>
            <a:r>
              <a:rPr lang="en-GB" sz="1700" b="1" dirty="0">
                <a:solidFill>
                  <a:srgbClr val="000000"/>
                </a:solidFill>
                <a:latin typeface="Arial"/>
                <a:ea typeface="ＭＳ Ｐゴシック"/>
              </a:rPr>
              <a:t>Team </a:t>
            </a:r>
            <a:r>
              <a:rPr sz="1700" b="1" dirty="0">
                <a:solidFill>
                  <a:srgbClr val="000000"/>
                </a:solidFill>
                <a:latin typeface="Arial"/>
                <a:ea typeface="ＭＳ Ｐゴシック"/>
              </a:rPr>
              <a:t>Name </a:t>
            </a:r>
            <a:r>
              <a:rPr lang="en-GB" sz="1700" b="1" dirty="0">
                <a:solidFill>
                  <a:srgbClr val="000000"/>
                </a:solidFill>
                <a:latin typeface="Arial"/>
                <a:ea typeface="ＭＳ Ｐゴシック"/>
              </a:rPr>
              <a:t>- </a:t>
            </a:r>
            <a:r>
              <a:rPr sz="1700" b="1" dirty="0">
                <a:solidFill>
                  <a:srgbClr val="000000"/>
                </a:solidFill>
                <a:latin typeface="Arial"/>
                <a:ea typeface="ＭＳ Ｐゴシック"/>
              </a:rPr>
              <a:t> ENTROPY</a:t>
            </a:r>
            <a:endParaRPr sz="1700" b="1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algn="l" eaLnBrk="1" hangingPunct="1">
              <a:spcAft>
                <a:spcPts val="400"/>
              </a:spcAft>
            </a:pPr>
            <a:r>
              <a:rPr sz="2800" b="1">
                <a:solidFill>
                  <a:srgbClr val="1F497D"/>
                </a:solidFill>
                <a:latin typeface="Times New Roman"/>
              </a:rPr>
              <a:t>IDEA TITLE  ·  VPN SENTINEL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45872" y="1115568"/>
            <a:ext cx="58572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Rectangle 15362"/>
          <p:cNvSpPr/>
          <p:nvPr/>
        </p:nvSpPr>
        <p:spPr>
          <a:xfrm>
            <a:off x="225552" y="1125728"/>
            <a:ext cx="5847080" cy="34950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TextBox 15363"/>
          <p:cNvSpPr txBox="1"/>
          <p:nvPr/>
        </p:nvSpPr>
        <p:spPr>
          <a:xfrm>
            <a:off x="258064" y="1133856"/>
            <a:ext cx="5696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47472" y="1481328"/>
            <a:ext cx="5641848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IPsec VPN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 security depends on cryptographic choices, key exchange, and configuration that most tools do not automatically assess.</a:t>
            </a: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 Weak ciphers, deprecated IKEv1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, and </a:t>
            </a: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small DH groups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 go undetected without expert manual analysis in Wireshark.</a:t>
            </a:r>
            <a:endParaRPr lang="en-US" sz="1300" b="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15366" name="Rounded Rectangle 15365"/>
          <p:cNvSpPr/>
          <p:nvPr/>
        </p:nvSpPr>
        <p:spPr>
          <a:xfrm>
            <a:off x="6212840" y="1125728"/>
            <a:ext cx="5699760" cy="1437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Rectangle 15366"/>
          <p:cNvSpPr/>
          <p:nvPr/>
        </p:nvSpPr>
        <p:spPr>
          <a:xfrm>
            <a:off x="6172200" y="1115568"/>
            <a:ext cx="5760720" cy="329184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TextBox 15367"/>
          <p:cNvSpPr txBox="1"/>
          <p:nvPr/>
        </p:nvSpPr>
        <p:spPr>
          <a:xfrm>
            <a:off x="6245352" y="1133856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OUR IDEA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6263640" y="1481328"/>
            <a:ext cx="5596128" cy="1092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VPN Sentinel ingests operator-owned PCAPs, reconstructs IKE/ESP headers, and emits protocol facts plus a policy-backed risk score. Encrypted ESP payloads are never decrypted.</a:t>
            </a:r>
            <a:endParaRPr lang="en-US" sz="1300" b="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15370" name="Rounded Rectangle 15369"/>
          <p:cNvSpPr/>
          <p:nvPr/>
        </p:nvSpPr>
        <p:spPr>
          <a:xfrm>
            <a:off x="225552" y="3029810"/>
            <a:ext cx="3326581" cy="32012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Rectangle 15370"/>
          <p:cNvSpPr/>
          <p:nvPr/>
        </p:nvSpPr>
        <p:spPr>
          <a:xfrm>
            <a:off x="225552" y="2743200"/>
            <a:ext cx="3328711" cy="47142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217424" y="2741168"/>
            <a:ext cx="5696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PROPOSED SOLUTION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261441" y="3241040"/>
            <a:ext cx="3323401" cy="26345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Dual RFC parsers: IKEv1 RFC 2409 TV attributes vs IKEv2 RFC 7296 §3.3 Transform Type/ID (ISAKMP version nibble &gt;&gt; 4).</a:t>
            </a:r>
            <a:endParaRPr lang="en-US" sz="1300" b="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NIST SP 800-77r1 cryptographic policy checks: cipher-suite verification, weak DH groups (1/2/5), hashing/integrity, IKEv1 deprecation (RFC 9395).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Zero-decryption behavioral profiling: IsolationForest on ESP flow metadata (size mean/variance, inter-arrival deltas, duration, byte volume). No payload inspection.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Aggregated security posture index: additive 0–100 risk score with finding IDs and an exportable HTML/JSON audit report.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6245352" y="3493008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INNOVATION / UNIQUENESS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AF5AE-63C0-6BAB-7F0B-8AEA3B3A3AB9}"/>
              </a:ext>
            </a:extLst>
          </p:cNvPr>
          <p:cNvSpPr txBox="1"/>
          <p:nvPr/>
        </p:nvSpPr>
        <p:spPr>
          <a:xfrm>
            <a:off x="8733939" y="3009530"/>
            <a:ext cx="323696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ea typeface="Calibri"/>
                <a:cs typeface="Calibri"/>
              </a:rPr>
              <a:t>INNOVATION/UNIQUNESS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C0A13-A682-3F5E-5F3A-F36B572587C9}"/>
              </a:ext>
            </a:extLst>
          </p:cNvPr>
          <p:cNvSpPr txBox="1"/>
          <p:nvPr/>
        </p:nvSpPr>
        <p:spPr>
          <a:xfrm>
            <a:off x="8740133" y="3433407"/>
            <a:ext cx="3218464" cy="276998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Arial"/>
                <a:ea typeface="ＭＳ Ｐゴシック"/>
                <a:cs typeface="Arial"/>
              </a:rPr>
              <a:t>• IKEv1 RFC 2409 attributes (0x80 0x01) vs IKEv2 RFC 7296 §3.3 Transform Type/ID — shared hunters fail silently on IKEv2.</a:t>
            </a:r>
            <a:br>
              <a:rPr lang="en-US" sz="1200" dirty="0">
                <a:latin typeface="Arial"/>
                <a:cs typeface="Arial"/>
              </a:rPr>
            </a:br>
            <a:r>
              <a:rPr lang="en-US" sz="1200" dirty="0">
                <a:latin typeface="Arial"/>
                <a:ea typeface="ＭＳ Ｐゴシック"/>
                <a:cs typeface="Arial"/>
              </a:rPr>
              <a:t>• Metadata-only signal on encrypted ESP; no decrypt.</a:t>
            </a:r>
            <a:br>
              <a:rPr lang="en-US" sz="1200" dirty="0">
                <a:latin typeface="Arial"/>
                <a:cs typeface="Arial"/>
              </a:rPr>
            </a:br>
            <a:r>
              <a:rPr lang="en-US" sz="1200" dirty="0">
                <a:latin typeface="Arial"/>
                <a:ea typeface="ＭＳ Ｐゴシック"/>
                <a:cs typeface="Arial"/>
              </a:rPr>
              <a:t>• Parse + policy score in one offline PCAP pipeline.</a:t>
            </a:r>
            <a:endParaRPr lang="en-GB" sz="1200" dirty="0">
              <a:latin typeface="Arial"/>
              <a:ea typeface="ＭＳ Ｐゴシック"/>
              <a:cs typeface="Arial"/>
            </a:endParaRPr>
          </a:p>
          <a:p>
            <a:pPr algn="l"/>
            <a:endParaRPr lang="en-GB" dirty="0"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  <p:pic>
        <p:nvPicPr>
          <p:cNvPr id="15377" name="Picture 15376" descr="vpn-sentinel-dashboard-slid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705" y="2743200"/>
            <a:ext cx="4967748" cy="35954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 eaLnBrk="1" hangingPunct="1">
              <a:spcAft>
                <a:spcPts val="400"/>
              </a:spcAft>
            </a:pPr>
            <a:r>
              <a:rPr sz="2800" b="1">
                <a:solidFill>
                  <a:srgbClr val="1F497D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115568"/>
            <a:ext cx="416052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256032" y="1115568"/>
            <a:ext cx="4160520" cy="32918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1133856"/>
            <a:ext cx="4050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SOFTWARE (NO HARDWARE APPLIANCE)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481328"/>
            <a:ext cx="3995928" cy="25032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FastAPI — asynchronous PCAP ingest and analysis API</a:t>
            </a:r>
            <a:endParaRPr lang="en-US" sz="1300" b="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Network processing: Scapy reconstruction of ISAKMP/IKE, ESP, AH, UDP/500, UDP/4500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parse_ikev1_sa — RFC 2409 short-form attributes (0x80 0x01 encryption TV)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parse_ikev2_sa — RFC 7296 §3.3 Transform Type/ID (no shared 0x80 0x01 hunt)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YAML policy — NIST-aligned crypto/config findings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ML core: IsolationForest on scaled ESP flow vectors (size/timing); no payload decryption; does not set the VPN risk score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Data interface: native PCAP/PCAPNG batch offline dumps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React (Vite) dashboard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617720" y="1115568"/>
            <a:ext cx="7315200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4754880" y="1170432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IMPLEMENTATION FLOW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892040" y="1481328"/>
            <a:ext cx="6766560" cy="43891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937760" y="152704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PACKET INGESTION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FastAPI + Scapy (offline PCAP)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8092440" y="1938528"/>
            <a:ext cx="256032" cy="201168"/>
          </a:xfrm>
          <a:prstGeom prst="rightArrow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4892040" y="2084831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4937760" y="2130551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IKEv1 PARSER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Version-nibble branch · RFC 2409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458200" y="2084831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8503920" y="2130551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IKEv2 PARSER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Version-nibble branch · RFC 7296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892040" y="2816352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Processing splits on the IKE handshake: ISAKMP version nibble (byte 17 &gt;&gt; 4) selects the parser. Filename is ignored.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8092440" y="3035808"/>
            <a:ext cx="256032" cy="201168"/>
          </a:xfrm>
          <a:prstGeom prst="rightArrow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4892040" y="3218688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4937760" y="3264408"/>
            <a:ext cx="3108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NIST SP 800-77r1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Cryptographic Policy Check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458200" y="3218688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8503920" y="3264408"/>
            <a:ext cx="3108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IsolationForest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Temporal &amp; Structural Anomaly Processor</a:t>
            </a:r>
          </a:p>
        </p:txBody>
      </p:sp>
      <p:sp>
        <p:nvSpPr>
          <p:cNvPr id="17429" name="Right Arrow 17428"/>
          <p:cNvSpPr/>
          <p:nvPr/>
        </p:nvSpPr>
        <p:spPr>
          <a:xfrm>
            <a:off x="8092440" y="3913632"/>
            <a:ext cx="256032" cy="201168"/>
          </a:xfrm>
          <a:prstGeom prst="rightArrow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Rounded Rectangle 17429"/>
          <p:cNvSpPr/>
          <p:nvPr/>
        </p:nvSpPr>
        <p:spPr>
          <a:xfrm>
            <a:off x="4892040" y="4114800"/>
            <a:ext cx="6766560" cy="43891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4937760" y="41605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POSTURE INDEX  +  FINDINGS  →  DASHBOARD / AUDIT EXPORT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256032" y="5193792"/>
            <a:ext cx="11658600" cy="1005840"/>
          </a:xfrm>
          <a:prstGeom prst="roundRect">
            <a:avLst>
              <a:gd name="adj" fmla="val 4000"/>
            </a:avLst>
          </a:prstGeom>
          <a:solidFill>
            <a:srgbClr val="EEECE1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411480" y="5285232"/>
            <a:ext cx="1133856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GitHub:  https://github.com/riddhii22/vpn-Sentinel-minor</a:t>
            </a:r>
            <a:endParaRPr lang="en-US"/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Repository status: parser core and NIST-aligned verification engine active (prototype testing). IsolationForest scores ESP metadata; it does not classify inner traffic.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 eaLnBrk="1" hangingPunct="1">
              <a:spcAft>
                <a:spcPts val="400"/>
              </a:spcAft>
            </a:pPr>
            <a:r>
              <a:rPr sz="2800" b="1">
                <a:solidFill>
                  <a:srgbClr val="1F497D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078992"/>
            <a:ext cx="580644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256032" y="1078992"/>
            <a:ext cx="5806440" cy="32918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1097280"/>
            <a:ext cx="5696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444752"/>
            <a:ext cx="5641848" cy="11182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Offline PCAP analysis removes live-capture operational and legal exposure.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Deterministic validation: parsers cross-checked against Wireshark-decoded IKEv1/IKEv2 captures (cipher, key length, DH, PSK/hash attributes).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Policy language tracks NIST SP 800-77r1 IPsec cryptographic guidance — not ad-hoc thresholds.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72200" y="1078992"/>
            <a:ext cx="57607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6172200" y="1078992"/>
            <a:ext cx="5760720" cy="329184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245352" y="1097280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COMMERCIAL FEASIBILITY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63640" y="1444752"/>
            <a:ext cx="5596128" cy="11182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 dirty="0">
                <a:solidFill>
                  <a:srgbClr val="000000"/>
                </a:solidFill>
                <a:latin typeface="Arial"/>
                <a:ea typeface="ＭＳ Ｐゴシック"/>
              </a:rPr>
              <a:t>• Enterprises still run IPsec; automated first-pass audits reduce wait for a packet expert.
• MVP runs locally (Python + React) 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ＭＳ Ｐゴシック"/>
              </a:rPr>
              <a:t> , </a:t>
            </a:r>
            <a:r>
              <a:rPr sz="1200" b="0" dirty="0">
                <a:solidFill>
                  <a:srgbClr val="000000"/>
                </a:solidFill>
                <a:latin typeface="Arial"/>
                <a:ea typeface="ＭＳ Ｐゴシック"/>
              </a:rPr>
              <a:t>no appliance purchase for a demo.
• 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Targets a known, existing spend category (enterprise VPN/security audit tooling) rather than a new market sizing not yet estimated.</a:t>
            </a:r>
            <a:endParaRPr sz="1200" b="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17418" name="Rounded Rectangle 17417"/>
          <p:cNvSpPr/>
          <p:nvPr/>
        </p:nvSpPr>
        <p:spPr>
          <a:xfrm>
            <a:off x="256032" y="3547872"/>
            <a:ext cx="580644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ectangle 17418"/>
          <p:cNvSpPr/>
          <p:nvPr/>
        </p:nvSpPr>
        <p:spPr>
          <a:xfrm>
            <a:off x="256032" y="3547872"/>
            <a:ext cx="5806440" cy="329184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329184" y="3566160"/>
            <a:ext cx="5696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CHALLENGES AND RISKS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7472" y="3913632"/>
            <a:ext cx="5641848" cy="13029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• IKEv1 and IKEv2 require separate SA encodings. A shared 0x80 0x01 hunt fails silently on IKEv2.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• Encrypted-state traversal: Child SA / Quick Mode fields (PFS, tunnel vs transport, replay) that are ciphertext stay Unverified Configuration — the engine never invents values.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• Payload encryption boundary: no inner-traffic class (YouTube/WhatsApp). Analysis stays on cryptographic strength and observable transmission metadata.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72200" y="3547872"/>
            <a:ext cx="576072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ectangle 17422"/>
          <p:cNvSpPr/>
          <p:nvPr/>
        </p:nvSpPr>
        <p:spPr>
          <a:xfrm>
            <a:off x="6172200" y="3547872"/>
            <a:ext cx="5760720" cy="329184"/>
          </a:xfrm>
          <a:prstGeom prst="rect">
            <a:avLst/>
          </a:prstGeom>
          <a:solidFill>
            <a:srgbClr val="9BBB59"/>
          </a:solidFill>
          <a:ln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6245352" y="3566160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63640" y="3913632"/>
            <a:ext cx="5596128" cy="13029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• Non-invasive telemetry: IsolationForest profiles ESP structural flow signatures (size/timing). No DPI of ciphertext.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• Lab testbed and labelled web/video/voice classes remain the expansion path under PS 26160.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• Explainable intelligence: each alert maps to a rule ID plus packet evidence; ML is a separate telemetry score and does not overwrite cipher findings.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 eaLnBrk="1" hangingPunct="1">
              <a:spcAft>
                <a:spcPts val="400"/>
              </a:spcAft>
            </a:pPr>
            <a:r>
              <a:rPr sz="2800" b="1">
                <a:solidFill>
                  <a:srgbClr val="1F497D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078992"/>
            <a:ext cx="58064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256032" y="1078992"/>
            <a:ext cx="5806440" cy="32918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1097280"/>
            <a:ext cx="5696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DIRECT IMPACT ON TARGET USERS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444752"/>
            <a:ext cx="5641848" cy="16466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Security teams: first-pass IPsec configuration audit without exclusive reliance on manual Wireshark trees.</a:t>
            </a:r>
            <a:endParaRPr lang="en-US" sz="1300" b="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Network / VPN admins: IKEv1, DES/3DES, and weak DH isolated with a recommendation.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Operational optimization: automates crypto-suite discovery and handshake compliance parsing.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Automated initial triage: surfaces high-risk handshake misconfigurations before any later lab-scale deployment.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72200" y="1078992"/>
            <a:ext cx="576072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6172200" y="1078992"/>
            <a:ext cx="5760720" cy="32918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245352" y="1097280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STRATEGIC IMPACT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63640" y="1444752"/>
            <a:ext cx="5596128" cy="13952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Supports correctly configured IPsec (IKEv2, modern ciphers, adequate DH) on enterprise and government paths.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Distinguishes “VPN is on” from “the handshake is cryptographically sound.”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Aligns with NTRO PS 26160 assessment and reporting: structural IKE/ESP parsing, policy auditing, and exportable compliance output. Testbed and inner-traffic classification remain the scale-out path.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56032" y="4462272"/>
            <a:ext cx="1165860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ectangle 17418"/>
          <p:cNvSpPr/>
          <p:nvPr/>
        </p:nvSpPr>
        <p:spPr>
          <a:xfrm>
            <a:off x="256032" y="4462272"/>
            <a:ext cx="11658600" cy="329184"/>
          </a:xfrm>
          <a:prstGeom prst="rect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329184" y="4480560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ECONOMIC / SOCIAL BENEFITS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7472" y="4828032"/>
            <a:ext cx="11494008" cy="7950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• Social: fewer unnoticed weak VPN handshakes on networks the operator is allowed to inspect.
• 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Economic: Reduces reliance on billed expert hours for manual packet-level VPN audits — exact savings not yet quantified.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
• Environmental: software-only lab path (PCAP + optional containers) vs extra dedicated hardware for the prototyp</a:t>
            </a:r>
            <a:r>
              <a:rPr sz="1200" b="0" dirty="0">
                <a:solidFill>
                  <a:srgbClr val="000000"/>
                </a:solidFill>
                <a:latin typeface="Arial"/>
                <a:ea typeface="ＭＳ Ｐゴシック"/>
              </a:rPr>
              <a:t>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 eaLnBrk="1" hangingPunct="1">
              <a:spcAft>
                <a:spcPts val="400"/>
              </a:spcAft>
            </a:pPr>
            <a:r>
              <a:rPr sz="2800" b="1">
                <a:solidFill>
                  <a:srgbClr val="1F497D"/>
                </a:solidFill>
                <a:latin typeface="Times New Roman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078992"/>
            <a:ext cx="574243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256032" y="1078992"/>
            <a:ext cx="5742432" cy="32918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1097280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GAP &amp; PROBLEM IDENTIFICATION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444752"/>
            <a:ext cx="5577840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Misconfigured IPsec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 (IKEv1, weak DH, legacy ciphers) is hard to see without packet expertise. PS 26160 asks for automated identification + assessment; generic “AI VPN” tools often skip </a:t>
            </a: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RFC-correct SA layou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t.</a:t>
            </a:r>
            <a:endParaRPr lang="en-US" sz="1300" b="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17414" name="Rounded Rectangle 17413"/>
          <p:cNvSpPr/>
          <p:nvPr/>
        </p:nvSpPr>
        <p:spPr>
          <a:xfrm>
            <a:off x="6172200" y="1078992"/>
            <a:ext cx="574243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6172200" y="1078992"/>
            <a:ext cx="5742432" cy="32918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245352" y="1097280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LITERATURE SURVEY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63640" y="1444752"/>
            <a:ext cx="5577840" cy="11951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NIST SP 800-77r1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ＭＳ Ｐゴシック"/>
              </a:rPr>
              <a:t>- 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IPsec configuration guidance (crypto policy language).
</a:t>
            </a: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Cremers, ESORICS 2011 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ＭＳ Ｐゴシック"/>
              </a:rPr>
              <a:t>- 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formal IKEv1 vs IKEv2 security comparison.
</a:t>
            </a: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Draper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-Gil et al., ICISSP 2016 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ＭＳ Ｐゴシック"/>
              </a:rPr>
              <a:t>- 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time-related features for encrypted/VPN traffic (basis for metadata-only ESP analysis).</a:t>
            </a:r>
            <a:endParaRPr lang="en-US" sz="1300" b="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17418" name="Rounded Rectangle 17417"/>
          <p:cNvSpPr/>
          <p:nvPr/>
        </p:nvSpPr>
        <p:spPr>
          <a:xfrm>
            <a:off x="256032" y="2788920"/>
            <a:ext cx="574243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ectangle 17418"/>
          <p:cNvSpPr/>
          <p:nvPr/>
        </p:nvSpPr>
        <p:spPr>
          <a:xfrm>
            <a:off x="256032" y="2788920"/>
            <a:ext cx="5742432" cy="329184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329184" y="2807208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TECHNOLOGY BENCHMARKING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7472" y="3154680"/>
            <a:ext cx="5577840" cy="9951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 dirty="0">
                <a:solidFill>
                  <a:srgbClr val="000000"/>
                </a:solidFill>
                <a:latin typeface="Arial"/>
                <a:ea typeface="ＭＳ Ｐゴシック"/>
              </a:rPr>
              <a:t>i</a:t>
            </a: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ke-scan / iker </a:t>
            </a: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/>
              </a:rPr>
              <a:t>- </a:t>
            </a:r>
            <a:r>
              <a:rPr sz="1300" dirty="0">
                <a:solidFill>
                  <a:srgbClr val="000000"/>
                </a:solidFill>
                <a:latin typeface="Arial"/>
                <a:ea typeface="ＭＳ Ｐゴシック"/>
              </a:rPr>
              <a:t>enumerate</a:t>
            </a: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 IKE transforms</a:t>
            </a:r>
            <a:r>
              <a:rPr sz="1300" dirty="0">
                <a:solidFill>
                  <a:srgbClr val="000000"/>
                </a:solidFill>
                <a:latin typeface="Arial"/>
                <a:ea typeface="ＭＳ Ｐゴシック"/>
              </a:rPr>
              <a:t> from live probes.</a:t>
            </a: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
VPN Sentinel </a:t>
            </a: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/>
              </a:rPr>
              <a:t>-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sz="1300" dirty="0">
                <a:solidFill>
                  <a:srgbClr val="000000"/>
                </a:solidFill>
                <a:latin typeface="Arial"/>
                <a:ea typeface="ＭＳ Ｐゴシック"/>
              </a:rPr>
              <a:t>same field goal, offline from PCAP, with separate v1/v2 parsers.
</a:t>
            </a:r>
            <a:r>
              <a:rPr sz="1300" b="1" dirty="0">
                <a:solidFill>
                  <a:srgbClr val="000000"/>
                </a:solidFill>
                <a:latin typeface="Arial"/>
                <a:ea typeface="ＭＳ Ｐゴシック"/>
              </a:rPr>
              <a:t>Wireshark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ＭＳ Ｐゴシック"/>
              </a:rPr>
              <a:t>- 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ground-truth decode, not replaced.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72200" y="2788920"/>
            <a:ext cx="574243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ectangle 17422"/>
          <p:cNvSpPr/>
          <p:nvPr/>
        </p:nvSpPr>
        <p:spPr>
          <a:xfrm>
            <a:off x="6172200" y="2788920"/>
            <a:ext cx="5742432" cy="329184"/>
          </a:xfrm>
          <a:prstGeom prst="rect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6245352" y="2807208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ECONOMIC LANDSCAPE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63640" y="3154680"/>
            <a:ext cx="5577840" cy="11951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Demand is for cheaper first-pass audits, not a new VPN vendor.
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Total addressable market not sized for this prototype stage; positioned as a cost-reduction tool within existing security-audit spend.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
Open stack (Python, Scapy, FastAPI) keeps prototype cost at student/lab scal</a:t>
            </a:r>
            <a:r>
              <a:rPr sz="1200" b="0" dirty="0">
                <a:solidFill>
                  <a:srgbClr val="000000"/>
                </a:solidFill>
                <a:latin typeface="Arial"/>
                <a:ea typeface="ＭＳ Ｐゴシック"/>
              </a:rPr>
              <a:t>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56032" y="4498848"/>
            <a:ext cx="574243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ectangle 17426"/>
          <p:cNvSpPr/>
          <p:nvPr/>
        </p:nvSpPr>
        <p:spPr>
          <a:xfrm>
            <a:off x="256032" y="4498848"/>
            <a:ext cx="5742432" cy="329184"/>
          </a:xfrm>
          <a:prstGeom prst="rect">
            <a:avLst/>
          </a:prstGeom>
          <a:solidFill>
            <a:srgbClr val="9BBB59"/>
          </a:solidFill>
          <a:ln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329184" y="4517136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TESTS / VALIDATION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47472" y="4864608"/>
            <a:ext cx="5577840" cy="9438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Wireshark-verified parse on samples/IKEv2.pcap packet 1: ENCR_AES_CBC (12) key 256, PRF SHA2-512, INTEG SHA2-512-256, DH group 20.
IKEv1 sample: AES-CBC, key 256, DH 20, PSK attributes</a:t>
            </a:r>
            <a:r>
              <a:rPr sz="1200" b="0" dirty="0">
                <a:solidFill>
                  <a:srgbClr val="000000"/>
                </a:solidFill>
                <a:latin typeface="Arial"/>
                <a:ea typeface="ＭＳ Ｐゴシック"/>
              </a:rPr>
              <a:t>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72200" y="4498848"/>
            <a:ext cx="574243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ectangle 17430"/>
          <p:cNvSpPr/>
          <p:nvPr/>
        </p:nvSpPr>
        <p:spPr>
          <a:xfrm>
            <a:off x="6172200" y="4498848"/>
            <a:ext cx="5742432" cy="329184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6245352" y="4517136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POLICY / ECOSYSTEM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263640" y="4864608"/>
            <a:ext cx="5577840" cy="9951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RFC 9395 </a:t>
            </a:r>
            <a:r>
              <a:rPr lang="en-US" sz="1300" dirty="0">
                <a:solidFill>
                  <a:srgbClr val="000000"/>
                </a:solidFill>
                <a:latin typeface="Arial"/>
                <a:ea typeface="ＭＳ Ｐゴシック"/>
              </a:rPr>
              <a:t>- </a:t>
            </a:r>
            <a:r>
              <a:rPr sz="1300" b="0" dirty="0">
                <a:solidFill>
                  <a:srgbClr val="000000"/>
                </a:solidFill>
                <a:latin typeface="Arial"/>
                <a:ea typeface="ＭＳ Ｐゴシック"/>
              </a:rPr>
              <a:t>IKEv1 deprecation (finding, not a slogan).
Operator-owned captures only; no decrypt; no scanning third-party networks.
SIH software prototype: local demo + docs + labelled samples.</a:t>
            </a:r>
            <a:endParaRPr lang="en-US" sz="1300" b="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IDEA TITLE  ·  VPN SENTINEL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366</cp:revision>
  <dcterms:created xsi:type="dcterms:W3CDTF">2013-12-12T18:46:50Z</dcterms:created>
  <dcterms:modified xsi:type="dcterms:W3CDTF">2026-09-30T20:58:29Z</dcterms:modified>
  <cp:category/>
</cp:coreProperties>
</file>